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embeddedFontLst>
    <p:embeddedFont>
      <p:font typeface="Roboto"/>
      <p:regular r:id="rId12"/>
      <p:bold r:id="rId13"/>
      <p:italic r:id="rId14"/>
      <p:boldItalic r:id="rId15"/>
    </p:embeddedFont>
    <p:embeddedFont>
      <p:font typeface="Tomorrow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grsrOiQfWIocg6rHJ4mSTmiT9n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17" Type="http://schemas.openxmlformats.org/officeDocument/2006/relationships/font" Target="fonts/Tomorrow-bold.fntdata"/><Relationship Id="rId16" Type="http://schemas.openxmlformats.org/officeDocument/2006/relationships/font" Target="fonts/Tomorrow-regular.fntdata"/><Relationship Id="rId5" Type="http://schemas.openxmlformats.org/officeDocument/2006/relationships/slide" Target="slides/slide1.xml"/><Relationship Id="rId19" Type="http://schemas.openxmlformats.org/officeDocument/2006/relationships/font" Target="fonts/Tomorrow-boldItalic.fntdata"/><Relationship Id="rId6" Type="http://schemas.openxmlformats.org/officeDocument/2006/relationships/slide" Target="slides/slide2.xml"/><Relationship Id="rId18" Type="http://schemas.openxmlformats.org/officeDocument/2006/relationships/font" Target="fonts/Tomorrow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ef193e99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4ef193e99d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4ef193e99d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4ef193e99d_1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4ef193e99d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4ef193e99d_1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4ef193e99d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4ef193e99d_1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4ef193e99d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4ef193e99d_1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4ef193e99d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4ef193e99d_1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g34ef193e99d_0_1440"/>
          <p:cNvGrpSpPr/>
          <p:nvPr/>
        </p:nvGrpSpPr>
        <p:grpSpPr>
          <a:xfrm>
            <a:off x="8130968" y="7"/>
            <a:ext cx="4060732" cy="2707359"/>
            <a:chOff x="6098378" y="5"/>
            <a:chExt cx="3045625" cy="2030570"/>
          </a:xfrm>
        </p:grpSpPr>
        <p:sp>
          <p:nvSpPr>
            <p:cNvPr id="11" name="Google Shape;11;g34ef193e99d_0_1440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g34ef193e99d_0_1440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g34ef193e99d_0_1440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g34ef193e99d_0_1440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g34ef193e99d_0_1440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g34ef193e99d_0_1440"/>
          <p:cNvSpPr txBox="1"/>
          <p:nvPr>
            <p:ph type="ctrTitle"/>
          </p:nvPr>
        </p:nvSpPr>
        <p:spPr>
          <a:xfrm>
            <a:off x="797467" y="2366963"/>
            <a:ext cx="10962900" cy="1118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g34ef193e99d_0_1440"/>
          <p:cNvSpPr txBox="1"/>
          <p:nvPr>
            <p:ph idx="1" type="subTitle"/>
          </p:nvPr>
        </p:nvSpPr>
        <p:spPr>
          <a:xfrm>
            <a:off x="797451" y="3621217"/>
            <a:ext cx="10962900" cy="577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g34ef193e99d_0_1440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g34ef193e99d_0_1450"/>
          <p:cNvGrpSpPr/>
          <p:nvPr/>
        </p:nvGrpSpPr>
        <p:grpSpPr>
          <a:xfrm>
            <a:off x="8130968" y="7"/>
            <a:ext cx="4060732" cy="2707359"/>
            <a:chOff x="6098378" y="5"/>
            <a:chExt cx="3045625" cy="2030570"/>
          </a:xfrm>
        </p:grpSpPr>
        <p:sp>
          <p:nvSpPr>
            <p:cNvPr id="21" name="Google Shape;21;g34ef193e99d_0_1450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g34ef193e99d_0_1450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g34ef193e99d_0_1450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g34ef193e99d_0_1450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g34ef193e99d_0_1450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g34ef193e99d_0_1450"/>
          <p:cNvSpPr txBox="1"/>
          <p:nvPr>
            <p:ph type="title"/>
          </p:nvPr>
        </p:nvSpPr>
        <p:spPr>
          <a:xfrm>
            <a:off x="797467" y="2869796"/>
            <a:ext cx="10962900" cy="1118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g34ef193e99d_0_1450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g34ef193e99d_0_1459"/>
          <p:cNvGrpSpPr/>
          <p:nvPr/>
        </p:nvGrpSpPr>
        <p:grpSpPr>
          <a:xfrm>
            <a:off x="0" y="5204762"/>
            <a:ext cx="12191695" cy="1653192"/>
            <a:chOff x="0" y="3903669"/>
            <a:chExt cx="9144000" cy="1239925"/>
          </a:xfrm>
        </p:grpSpPr>
        <p:sp>
          <p:nvSpPr>
            <p:cNvPr id="30" name="Google Shape;30;g34ef193e99d_0_1459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g34ef193e99d_0_1459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g34ef193e99d_0_1459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g34ef193e99d_0_1459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g34ef193e99d_0_1459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g34ef193e99d_0_1459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6" name="Google Shape;36;g34ef193e99d_0_1459"/>
          <p:cNvSpPr txBox="1"/>
          <p:nvPr>
            <p:ph idx="1" type="body"/>
          </p:nvPr>
        </p:nvSpPr>
        <p:spPr>
          <a:xfrm>
            <a:off x="415600" y="1639833"/>
            <a:ext cx="11360700" cy="445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37" name="Google Shape;37;g34ef193e99d_0_1459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4ef193e99d_0_1469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0" name="Google Shape;40;g34ef193e99d_0_1469"/>
          <p:cNvSpPr txBox="1"/>
          <p:nvPr>
            <p:ph idx="1" type="body"/>
          </p:nvPr>
        </p:nvSpPr>
        <p:spPr>
          <a:xfrm>
            <a:off x="415600" y="1639967"/>
            <a:ext cx="5333100" cy="445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1" name="Google Shape;41;g34ef193e99d_0_1469"/>
          <p:cNvSpPr txBox="1"/>
          <p:nvPr>
            <p:ph idx="2" type="body"/>
          </p:nvPr>
        </p:nvSpPr>
        <p:spPr>
          <a:xfrm>
            <a:off x="6443200" y="1639967"/>
            <a:ext cx="5333100" cy="445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2" name="Google Shape;42;g34ef193e99d_0_1469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4ef193e99d_0_1474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5" name="Google Shape;45;g34ef193e99d_0_1474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4ef193e99d_0_1477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48" name="Google Shape;48;g34ef193e99d_0_1477"/>
          <p:cNvSpPr txBox="1"/>
          <p:nvPr>
            <p:ph idx="1" type="body"/>
          </p:nvPr>
        </p:nvSpPr>
        <p:spPr>
          <a:xfrm>
            <a:off x="415600" y="1954405"/>
            <a:ext cx="3744000" cy="413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9" name="Google Shape;49;g34ef193e99d_0_1477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g34ef193e99d_0_1481"/>
          <p:cNvGrpSpPr/>
          <p:nvPr/>
        </p:nvGrpSpPr>
        <p:grpSpPr>
          <a:xfrm>
            <a:off x="8130968" y="7"/>
            <a:ext cx="4060732" cy="2707359"/>
            <a:chOff x="6098378" y="5"/>
            <a:chExt cx="3045625" cy="2030570"/>
          </a:xfrm>
        </p:grpSpPr>
        <p:sp>
          <p:nvSpPr>
            <p:cNvPr id="52" name="Google Shape;52;g34ef193e99d_0_148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g34ef193e99d_0_148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g34ef193e99d_0_148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g34ef193e99d_0_148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g34ef193e99d_0_148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g34ef193e99d_0_1481"/>
          <p:cNvSpPr txBox="1"/>
          <p:nvPr>
            <p:ph type="title"/>
          </p:nvPr>
        </p:nvSpPr>
        <p:spPr>
          <a:xfrm>
            <a:off x="653667" y="701800"/>
            <a:ext cx="74916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g34ef193e99d_0_1481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4ef193e99d_0_1490"/>
          <p:cNvSpPr/>
          <p:nvPr/>
        </p:nvSpPr>
        <p:spPr>
          <a:xfrm>
            <a:off x="6096000" y="-233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g34ef193e99d_0_1490"/>
          <p:cNvCxnSpPr/>
          <p:nvPr/>
        </p:nvCxnSpPr>
        <p:spPr>
          <a:xfrm>
            <a:off x="6706233" y="5994000"/>
            <a:ext cx="624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g34ef193e99d_0_1490"/>
          <p:cNvSpPr txBox="1"/>
          <p:nvPr>
            <p:ph type="title"/>
          </p:nvPr>
        </p:nvSpPr>
        <p:spPr>
          <a:xfrm>
            <a:off x="354000" y="1534800"/>
            <a:ext cx="5393700" cy="2085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63" name="Google Shape;63;g34ef193e99d_0_1490"/>
          <p:cNvSpPr txBox="1"/>
          <p:nvPr>
            <p:ph idx="1" type="subTitle"/>
          </p:nvPr>
        </p:nvSpPr>
        <p:spPr>
          <a:xfrm>
            <a:off x="354000" y="3692002"/>
            <a:ext cx="5393700" cy="169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4" name="Google Shape;64;g34ef193e99d_0_1490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g34ef193e99d_0_1490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4ef193e99d_0_1497"/>
          <p:cNvSpPr txBox="1"/>
          <p:nvPr>
            <p:ph idx="1" type="body"/>
          </p:nvPr>
        </p:nvSpPr>
        <p:spPr>
          <a:xfrm>
            <a:off x="426000" y="5640767"/>
            <a:ext cx="7998300" cy="79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68" name="Google Shape;68;g34ef193e99d_0_1497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g34ef193e99d_0_1500"/>
          <p:cNvGrpSpPr/>
          <p:nvPr/>
        </p:nvGrpSpPr>
        <p:grpSpPr>
          <a:xfrm>
            <a:off x="8130968" y="7"/>
            <a:ext cx="4060732" cy="2707359"/>
            <a:chOff x="6098378" y="5"/>
            <a:chExt cx="3045625" cy="2030570"/>
          </a:xfrm>
        </p:grpSpPr>
        <p:sp>
          <p:nvSpPr>
            <p:cNvPr id="71" name="Google Shape;71;g34ef193e99d_0_1500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g34ef193e99d_0_1500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g34ef193e99d_0_1500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g34ef193e99d_0_1500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g34ef193e99d_0_1500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g34ef193e99d_0_1500"/>
          <p:cNvSpPr txBox="1"/>
          <p:nvPr>
            <p:ph hasCustomPrompt="1" type="title"/>
          </p:nvPr>
        </p:nvSpPr>
        <p:spPr>
          <a:xfrm>
            <a:off x="415600" y="1674733"/>
            <a:ext cx="11360700" cy="27075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g34ef193e99d_0_1500"/>
          <p:cNvSpPr txBox="1"/>
          <p:nvPr>
            <p:ph idx="1" type="body"/>
          </p:nvPr>
        </p:nvSpPr>
        <p:spPr>
          <a:xfrm>
            <a:off x="415600" y="4492300"/>
            <a:ext cx="11360700" cy="1709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g34ef193e99d_0_1500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4ef193e99d_0_1510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4ef193e99d_0_151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83" name="Google Shape;83;g34ef193e99d_0_151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84" name="Google Shape;84;g34ef193e99d_0_151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g34ef193e99d_0_151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g34ef193e99d_0_151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4ef193e99d_0_1436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g34ef193e99d_0_1436"/>
          <p:cNvSpPr txBox="1"/>
          <p:nvPr>
            <p:ph idx="1" type="body"/>
          </p:nvPr>
        </p:nvSpPr>
        <p:spPr>
          <a:xfrm>
            <a:off x="415600" y="1639833"/>
            <a:ext cx="11360700" cy="44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"/>
              <a:buChar char="●"/>
              <a:defRPr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○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■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●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○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■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●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○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■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34ef193e99d_0_1436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 txBox="1"/>
          <p:nvPr>
            <p:ph type="ctrTitle"/>
          </p:nvPr>
        </p:nvSpPr>
        <p:spPr>
          <a:xfrm>
            <a:off x="304250" y="2291575"/>
            <a:ext cx="11652300" cy="1701900"/>
          </a:xfrm>
          <a:prstGeom prst="rect">
            <a:avLst/>
          </a:prstGeom>
          <a:noFill/>
          <a:ln>
            <a:noFill/>
          </a:ln>
          <a:effectLst>
            <a:reflection blurRad="0" dir="0" dist="0" endA="0" endPos="1000" fadeDir="5400012" kx="0" rotWithShape="0" algn="bl" stPos="0" sy="-100000" ky="0"/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484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Shipment Service</a:t>
            </a:r>
            <a:endParaRPr sz="4840">
              <a:solidFill>
                <a:srgbClr val="A4C2F4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484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A Decentralized Order Tracking System</a:t>
            </a:r>
            <a:endParaRPr sz="4840">
              <a:solidFill>
                <a:srgbClr val="A4C2F4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92" name="Google Shape;92;p1"/>
          <p:cNvSpPr txBox="1"/>
          <p:nvPr>
            <p:ph idx="1" type="subTitle"/>
          </p:nvPr>
        </p:nvSpPr>
        <p:spPr>
          <a:xfrm>
            <a:off x="718075" y="4224498"/>
            <a:ext cx="10962900" cy="22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2550">
                <a:latin typeface="Tomorrow"/>
                <a:ea typeface="Tomorrow"/>
                <a:cs typeface="Tomorrow"/>
                <a:sym typeface="Tomorrow"/>
              </a:rPr>
              <a:t>By: Aadya Arun Talreja [1RVU23CSE003]</a:t>
            </a:r>
            <a:endParaRPr sz="2550">
              <a:latin typeface="Tomorrow"/>
              <a:ea typeface="Tomorrow"/>
              <a:cs typeface="Tomorrow"/>
              <a:sym typeface="Tomorrow"/>
            </a:endParaRPr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2550">
                <a:latin typeface="Tomorrow"/>
                <a:ea typeface="Tomorrow"/>
                <a:cs typeface="Tomorrow"/>
                <a:sym typeface="Tomorrow"/>
              </a:rPr>
              <a:t>Amogha V Prasad [1RVU23CSE046]</a:t>
            </a:r>
            <a:endParaRPr sz="2550">
              <a:latin typeface="Tomorrow"/>
              <a:ea typeface="Tomorrow"/>
              <a:cs typeface="Tomorrow"/>
              <a:sym typeface="Tomorrow"/>
            </a:endParaRPr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2550">
                <a:latin typeface="Tomorrow"/>
                <a:ea typeface="Tomorrow"/>
                <a:cs typeface="Tomorrow"/>
                <a:sym typeface="Tomorrow"/>
              </a:rPr>
              <a:t>Freya D Raja [1RVU23CSE158]</a:t>
            </a:r>
            <a:endParaRPr sz="2550">
              <a:latin typeface="Tomorrow"/>
              <a:ea typeface="Tomorrow"/>
              <a:cs typeface="Tomorrow"/>
              <a:sym typeface="Tomorrow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br>
              <a:rPr lang="en-US" sz="4840">
                <a:latin typeface="Tomorrow"/>
                <a:ea typeface="Tomorrow"/>
                <a:cs typeface="Tomorrow"/>
                <a:sym typeface="Tomorrow"/>
              </a:rPr>
            </a:b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4ef193e99d_1_0"/>
          <p:cNvSpPr txBox="1"/>
          <p:nvPr>
            <p:ph type="ctrTitle"/>
          </p:nvPr>
        </p:nvSpPr>
        <p:spPr>
          <a:xfrm>
            <a:off x="180525" y="205600"/>
            <a:ext cx="8985300" cy="860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484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Problem Statement</a:t>
            </a:r>
            <a:endParaRPr sz="4840">
              <a:solidFill>
                <a:srgbClr val="A4C2F4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98" name="Google Shape;98;g34ef193e99d_1_0"/>
          <p:cNvSpPr txBox="1"/>
          <p:nvPr>
            <p:ph idx="1" type="subTitle"/>
          </p:nvPr>
        </p:nvSpPr>
        <p:spPr>
          <a:xfrm>
            <a:off x="260875" y="1434325"/>
            <a:ext cx="10962900" cy="50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032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4C2F4"/>
              </a:buClr>
              <a:buSzPts val="2400"/>
              <a:buFont typeface="Tomorrow"/>
              <a:buAutoNum type="arabicPeriod"/>
            </a:pPr>
            <a:r>
              <a:rPr b="1"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Lack of Transparency</a:t>
            </a:r>
            <a:r>
              <a:rPr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 – </a:t>
            </a:r>
            <a:r>
              <a:rPr lang="en-US" sz="2400">
                <a:latin typeface="Tomorrow"/>
                <a:ea typeface="Tomorrow"/>
                <a:cs typeface="Tomorrow"/>
                <a:sym typeface="Tomorrow"/>
              </a:rPr>
              <a:t>Customers can't trace shipment progress in real time.</a:t>
            </a:r>
            <a:endParaRPr sz="2400">
              <a:latin typeface="Tomorrow"/>
              <a:ea typeface="Tomorrow"/>
              <a:cs typeface="Tomorrow"/>
              <a:sym typeface="Tomorrow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omorrow"/>
              <a:ea typeface="Tomorrow"/>
              <a:cs typeface="Tomorrow"/>
              <a:sym typeface="Tomorrow"/>
            </a:endParaRPr>
          </a:p>
          <a:p>
            <a:pPr indent="-2032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4C2F4"/>
              </a:buClr>
              <a:buSzPts val="2400"/>
              <a:buFont typeface="Tomorrow"/>
              <a:buAutoNum type="arabicPeriod"/>
            </a:pPr>
            <a:r>
              <a:rPr b="1"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Centralized Control</a:t>
            </a:r>
            <a:r>
              <a:rPr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 – </a:t>
            </a:r>
            <a:r>
              <a:rPr lang="en-US" sz="2400">
                <a:latin typeface="Tomorrow"/>
                <a:ea typeface="Tomorrow"/>
                <a:cs typeface="Tomorrow"/>
                <a:sym typeface="Tomorrow"/>
              </a:rPr>
              <a:t>Vulnerable to tampering, data loss, and manipulation.</a:t>
            </a:r>
            <a:endParaRPr sz="2400">
              <a:latin typeface="Tomorrow"/>
              <a:ea typeface="Tomorrow"/>
              <a:cs typeface="Tomorrow"/>
              <a:sym typeface="Tomorrow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omorrow"/>
              <a:ea typeface="Tomorrow"/>
              <a:cs typeface="Tomorrow"/>
              <a:sym typeface="Tomorrow"/>
            </a:endParaRPr>
          </a:p>
          <a:p>
            <a:pPr indent="-2032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4C2F4"/>
              </a:buClr>
              <a:buSzPts val="2400"/>
              <a:buFont typeface="Tomorrow"/>
              <a:buAutoNum type="arabicPeriod"/>
            </a:pPr>
            <a:r>
              <a:rPr b="1"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Complex Disputes</a:t>
            </a:r>
            <a:r>
              <a:rPr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 – </a:t>
            </a:r>
            <a:r>
              <a:rPr lang="en-US" sz="2400">
                <a:latin typeface="Tomorrow"/>
                <a:ea typeface="Tomorrow"/>
                <a:cs typeface="Tomorrow"/>
                <a:sym typeface="Tomorrow"/>
              </a:rPr>
              <a:t>No verifiable trail leads to hard-to-resolve claims.</a:t>
            </a:r>
            <a:endParaRPr sz="2400">
              <a:latin typeface="Tomorrow"/>
              <a:ea typeface="Tomorrow"/>
              <a:cs typeface="Tomorrow"/>
              <a:sym typeface="Tomorrow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omorrow"/>
              <a:ea typeface="Tomorrow"/>
              <a:cs typeface="Tomorrow"/>
              <a:sym typeface="Tomorrow"/>
            </a:endParaRPr>
          </a:p>
          <a:p>
            <a:pPr indent="-2032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4C2F4"/>
              </a:buClr>
              <a:buSzPts val="2400"/>
              <a:buFont typeface="Tomorrow"/>
              <a:buAutoNum type="arabicPeriod"/>
            </a:pPr>
            <a:r>
              <a:rPr b="1"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Manual Errors</a:t>
            </a:r>
            <a:r>
              <a:rPr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 – </a:t>
            </a:r>
            <a:r>
              <a:rPr lang="en-US" sz="2400">
                <a:latin typeface="Tomorrow"/>
                <a:ea typeface="Tomorrow"/>
                <a:cs typeface="Tomorrow"/>
                <a:sym typeface="Tomorrow"/>
              </a:rPr>
              <a:t>Especially in cross-border or multi-vendor orders.</a:t>
            </a:r>
            <a:endParaRPr sz="2400">
              <a:latin typeface="Tomorrow"/>
              <a:ea typeface="Tomorrow"/>
              <a:cs typeface="Tomorrow"/>
              <a:sym typeface="Tomorrow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omorrow"/>
              <a:ea typeface="Tomorrow"/>
              <a:cs typeface="Tomorrow"/>
              <a:sym typeface="Tomorrow"/>
            </a:endParaRPr>
          </a:p>
          <a:p>
            <a:pPr indent="-2032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4C2F4"/>
              </a:buClr>
              <a:buSzPts val="2400"/>
              <a:buFont typeface="Tomorrow"/>
              <a:buAutoNum type="arabicPeriod"/>
            </a:pPr>
            <a:r>
              <a:rPr b="1"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Customer Frustration</a:t>
            </a:r>
            <a:r>
              <a:rPr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 – </a:t>
            </a:r>
            <a:r>
              <a:rPr lang="en-US" sz="2400">
                <a:latin typeface="Tomorrow"/>
                <a:ea typeface="Tomorrow"/>
                <a:cs typeface="Tomorrow"/>
                <a:sym typeface="Tomorrow"/>
              </a:rPr>
              <a:t>Poor visibility causes trust issues and dissatisfaction.</a:t>
            </a:r>
            <a:endParaRPr sz="2400">
              <a:solidFill>
                <a:srgbClr val="A4C2F4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4ef193e99d_1_5"/>
          <p:cNvSpPr txBox="1"/>
          <p:nvPr>
            <p:ph type="ctrTitle"/>
          </p:nvPr>
        </p:nvSpPr>
        <p:spPr>
          <a:xfrm>
            <a:off x="180525" y="205600"/>
            <a:ext cx="8985300" cy="860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484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Introduction to the DApp</a:t>
            </a:r>
            <a:endParaRPr sz="4840">
              <a:solidFill>
                <a:srgbClr val="A4C2F4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104" name="Google Shape;104;g34ef193e99d_1_5"/>
          <p:cNvSpPr txBox="1"/>
          <p:nvPr>
            <p:ph idx="1" type="subTitle"/>
          </p:nvPr>
        </p:nvSpPr>
        <p:spPr>
          <a:xfrm>
            <a:off x="260875" y="1386700"/>
            <a:ext cx="10962900" cy="48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032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4C2F4"/>
              </a:buClr>
              <a:buSzPts val="2400"/>
              <a:buFont typeface="Tomorrow"/>
              <a:buAutoNum type="arabicPeriod"/>
            </a:pPr>
            <a:r>
              <a:rPr b="1"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Decentralized Order System</a:t>
            </a:r>
            <a:r>
              <a:rPr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 – </a:t>
            </a:r>
            <a:r>
              <a:rPr lang="en-US" sz="2400">
                <a:latin typeface="Tomorrow"/>
                <a:ea typeface="Tomorrow"/>
                <a:cs typeface="Tomorrow"/>
                <a:sym typeface="Tomorrow"/>
              </a:rPr>
              <a:t>Built on Ethereum smart contracts.</a:t>
            </a:r>
            <a:endParaRPr sz="2400">
              <a:latin typeface="Tomorrow"/>
              <a:ea typeface="Tomorrow"/>
              <a:cs typeface="Tomorrow"/>
              <a:sym typeface="Tomorrow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omorrow"/>
              <a:ea typeface="Tomorrow"/>
              <a:cs typeface="Tomorrow"/>
              <a:sym typeface="Tomorrow"/>
            </a:endParaRPr>
          </a:p>
          <a:p>
            <a:pPr indent="-2032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4C2F4"/>
              </a:buClr>
              <a:buSzPts val="2400"/>
              <a:buFont typeface="Tomorrow"/>
              <a:buAutoNum type="arabicPeriod"/>
            </a:pPr>
            <a:r>
              <a:rPr b="1"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Smart Contract Logic in Solidity</a:t>
            </a:r>
            <a:r>
              <a:rPr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 – </a:t>
            </a:r>
            <a:r>
              <a:rPr lang="en-US" sz="2400">
                <a:latin typeface="Tomorrow"/>
                <a:ea typeface="Tomorrow"/>
                <a:cs typeface="Tomorrow"/>
                <a:sym typeface="Tomorrow"/>
              </a:rPr>
              <a:t>Handles creation, tracking, and refunds.</a:t>
            </a:r>
            <a:endParaRPr sz="2400">
              <a:latin typeface="Tomorrow"/>
              <a:ea typeface="Tomorrow"/>
              <a:cs typeface="Tomorrow"/>
              <a:sym typeface="Tomorrow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omorrow"/>
              <a:ea typeface="Tomorrow"/>
              <a:cs typeface="Tomorrow"/>
              <a:sym typeface="Tomorrow"/>
            </a:endParaRPr>
          </a:p>
          <a:p>
            <a:pPr indent="-2032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4C2F4"/>
              </a:buClr>
              <a:buSzPts val="2400"/>
              <a:buFont typeface="Tomorrow"/>
              <a:buAutoNum type="arabicPeriod"/>
            </a:pPr>
            <a:r>
              <a:rPr b="1"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React Frontend</a:t>
            </a:r>
            <a:r>
              <a:rPr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 – </a:t>
            </a:r>
            <a:r>
              <a:rPr lang="en-US" sz="2400">
                <a:latin typeface="Tomorrow"/>
                <a:ea typeface="Tomorrow"/>
                <a:cs typeface="Tomorrow"/>
                <a:sym typeface="Tomorrow"/>
              </a:rPr>
              <a:t>For intuitive customer and admin interactions.</a:t>
            </a:r>
            <a:endParaRPr sz="2400">
              <a:latin typeface="Tomorrow"/>
              <a:ea typeface="Tomorrow"/>
              <a:cs typeface="Tomorrow"/>
              <a:sym typeface="Tomorrow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omorrow"/>
              <a:ea typeface="Tomorrow"/>
              <a:cs typeface="Tomorrow"/>
              <a:sym typeface="Tomorrow"/>
            </a:endParaRPr>
          </a:p>
          <a:p>
            <a:pPr indent="-2032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4C2F4"/>
              </a:buClr>
              <a:buSzPts val="2400"/>
              <a:buFont typeface="Tomorrow"/>
              <a:buAutoNum type="arabicPeriod"/>
            </a:pPr>
            <a:r>
              <a:rPr b="1"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MetaMask + Web3/Ethers.js</a:t>
            </a:r>
            <a:r>
              <a:rPr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 – </a:t>
            </a:r>
            <a:r>
              <a:rPr lang="en-US" sz="2400">
                <a:latin typeface="Tomorrow"/>
                <a:ea typeface="Tomorrow"/>
                <a:cs typeface="Tomorrow"/>
                <a:sym typeface="Tomorrow"/>
              </a:rPr>
              <a:t>Enables secure blockchain connectivity.</a:t>
            </a:r>
            <a:endParaRPr sz="2400">
              <a:latin typeface="Tomorrow"/>
              <a:ea typeface="Tomorrow"/>
              <a:cs typeface="Tomorrow"/>
              <a:sym typeface="Tomorrow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omorrow"/>
              <a:ea typeface="Tomorrow"/>
              <a:cs typeface="Tomorrow"/>
              <a:sym typeface="Tomorrow"/>
            </a:endParaRPr>
          </a:p>
          <a:p>
            <a:pPr indent="-2032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4C2F4"/>
              </a:buClr>
              <a:buSzPts val="2400"/>
              <a:buFont typeface="Tomorrow"/>
              <a:buAutoNum type="arabicPeriod"/>
            </a:pPr>
            <a:r>
              <a:rPr b="1"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Key Features</a:t>
            </a:r>
            <a:r>
              <a:rPr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 – </a:t>
            </a:r>
            <a:r>
              <a:rPr lang="en-US" sz="2400">
                <a:latin typeface="Tomorrow"/>
                <a:ea typeface="Tomorrow"/>
                <a:cs typeface="Tomorrow"/>
                <a:sym typeface="Tomorrow"/>
              </a:rPr>
              <a:t>Create, track, confirm with OTP, cancel with refund – all</a:t>
            </a:r>
            <a:r>
              <a:rPr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 trustless.</a:t>
            </a:r>
            <a:endParaRPr b="1" sz="2400">
              <a:solidFill>
                <a:srgbClr val="A4C2F4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4ef193e99d_1_10"/>
          <p:cNvSpPr txBox="1"/>
          <p:nvPr>
            <p:ph type="ctrTitle"/>
          </p:nvPr>
        </p:nvSpPr>
        <p:spPr>
          <a:xfrm>
            <a:off x="180525" y="205600"/>
            <a:ext cx="8985300" cy="860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484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Tools &amp; Technologies</a:t>
            </a:r>
            <a:endParaRPr sz="4840">
              <a:solidFill>
                <a:srgbClr val="A4C2F4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110" name="Google Shape;110;g34ef193e99d_1_10"/>
          <p:cNvSpPr txBox="1"/>
          <p:nvPr>
            <p:ph idx="1" type="subTitle"/>
          </p:nvPr>
        </p:nvSpPr>
        <p:spPr>
          <a:xfrm>
            <a:off x="260875" y="1434325"/>
            <a:ext cx="10962900" cy="48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67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4C2F4"/>
              </a:buClr>
              <a:buSzPts val="2400"/>
              <a:buFont typeface="Tomorrow"/>
              <a:buAutoNum type="arabicPeriod"/>
            </a:pPr>
            <a:r>
              <a:rPr b="1"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Frontend</a:t>
            </a:r>
            <a:r>
              <a:rPr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 – </a:t>
            </a:r>
            <a:r>
              <a:rPr lang="en-US" sz="2400">
                <a:latin typeface="Tomorrow"/>
                <a:ea typeface="Tomorrow"/>
                <a:cs typeface="Tomorrow"/>
                <a:sym typeface="Tomorrow"/>
              </a:rPr>
              <a:t>React.js, HTML, CSS, JS for UI &amp; interactions.</a:t>
            </a:r>
            <a:endParaRPr sz="2400">
              <a:latin typeface="Tomorrow"/>
              <a:ea typeface="Tomorrow"/>
              <a:cs typeface="Tomorrow"/>
              <a:sym typeface="Tomorrow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omorrow"/>
              <a:ea typeface="Tomorrow"/>
              <a:cs typeface="Tomorrow"/>
              <a:sym typeface="Tomorrow"/>
            </a:endParaRPr>
          </a:p>
          <a:p>
            <a:pPr indent="-2667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4C2F4"/>
              </a:buClr>
              <a:buSzPts val="2400"/>
              <a:buFont typeface="Tomorrow"/>
              <a:buAutoNum type="arabicPeriod"/>
            </a:pPr>
            <a:r>
              <a:rPr b="1"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Smart Contracts</a:t>
            </a:r>
            <a:r>
              <a:rPr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 – </a:t>
            </a:r>
            <a:r>
              <a:rPr lang="en-US" sz="2400">
                <a:latin typeface="Tomorrow"/>
                <a:ea typeface="Tomorrow"/>
                <a:cs typeface="Tomorrow"/>
                <a:sym typeface="Tomorrow"/>
              </a:rPr>
              <a:t>Solidity to define shipment logic on Ethereum.</a:t>
            </a:r>
            <a:endParaRPr sz="2400">
              <a:latin typeface="Tomorrow"/>
              <a:ea typeface="Tomorrow"/>
              <a:cs typeface="Tomorrow"/>
              <a:sym typeface="Tomorrow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omorrow"/>
              <a:ea typeface="Tomorrow"/>
              <a:cs typeface="Tomorrow"/>
              <a:sym typeface="Tomorrow"/>
            </a:endParaRPr>
          </a:p>
          <a:p>
            <a:pPr indent="-2667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4C2F4"/>
              </a:buClr>
              <a:buSzPts val="2400"/>
              <a:buFont typeface="Tomorrow"/>
              <a:buAutoNum type="arabicPeriod"/>
            </a:pPr>
            <a:r>
              <a:rPr b="1"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Blockchain Access</a:t>
            </a:r>
            <a:r>
              <a:rPr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 – </a:t>
            </a:r>
            <a:r>
              <a:rPr lang="en-US" sz="2400">
                <a:latin typeface="Tomorrow"/>
                <a:ea typeface="Tomorrow"/>
                <a:cs typeface="Tomorrow"/>
                <a:sym typeface="Tomorrow"/>
              </a:rPr>
              <a:t>Web3.js or Ethers.js + MetaMask.</a:t>
            </a:r>
            <a:endParaRPr sz="2400">
              <a:latin typeface="Tomorrow"/>
              <a:ea typeface="Tomorrow"/>
              <a:cs typeface="Tomorrow"/>
              <a:sym typeface="Tomorrow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omorrow"/>
              <a:ea typeface="Tomorrow"/>
              <a:cs typeface="Tomorrow"/>
              <a:sym typeface="Tomorrow"/>
            </a:endParaRPr>
          </a:p>
          <a:p>
            <a:pPr indent="-2667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4C2F4"/>
              </a:buClr>
              <a:buSzPts val="2400"/>
              <a:buFont typeface="Tomorrow"/>
              <a:buAutoNum type="arabicPeriod"/>
            </a:pPr>
            <a:r>
              <a:rPr b="1"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Development</a:t>
            </a:r>
            <a:r>
              <a:rPr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 – </a:t>
            </a:r>
            <a:r>
              <a:rPr lang="en-US" sz="2400">
                <a:latin typeface="Tomorrow"/>
                <a:ea typeface="Tomorrow"/>
                <a:cs typeface="Tomorrow"/>
                <a:sym typeface="Tomorrow"/>
              </a:rPr>
              <a:t>Hardhat for compiling, testing, deploying contracts.</a:t>
            </a:r>
            <a:endParaRPr sz="2400">
              <a:latin typeface="Tomorrow"/>
              <a:ea typeface="Tomorrow"/>
              <a:cs typeface="Tomorrow"/>
              <a:sym typeface="Tomorrow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omorrow"/>
              <a:ea typeface="Tomorrow"/>
              <a:cs typeface="Tomorrow"/>
              <a:sym typeface="Tomorrow"/>
            </a:endParaRPr>
          </a:p>
          <a:p>
            <a:pPr indent="-2667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4C2F4"/>
              </a:buClr>
              <a:buSzPts val="2400"/>
              <a:buFont typeface="Tomorrow"/>
              <a:buAutoNum type="arabicPeriod"/>
            </a:pPr>
            <a:r>
              <a:rPr b="1"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Optional Tools</a:t>
            </a:r>
            <a:r>
              <a:rPr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 – </a:t>
            </a:r>
            <a:r>
              <a:rPr lang="en-US" sz="2400">
                <a:latin typeface="Tomorrow"/>
                <a:ea typeface="Tomorrow"/>
                <a:cs typeface="Tomorrow"/>
                <a:sym typeface="Tomorrow"/>
              </a:rPr>
              <a:t>IPFS (storage), The Graph (querying), Chainlink (oracles).</a:t>
            </a:r>
            <a:endParaRPr sz="2400">
              <a:latin typeface="Tomorrow"/>
              <a:ea typeface="Tomorrow"/>
              <a:cs typeface="Tomorrow"/>
              <a:sym typeface="Tomorro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4ef193e99d_1_15"/>
          <p:cNvSpPr txBox="1"/>
          <p:nvPr>
            <p:ph type="ctrTitle"/>
          </p:nvPr>
        </p:nvSpPr>
        <p:spPr>
          <a:xfrm>
            <a:off x="180525" y="205600"/>
            <a:ext cx="8985300" cy="860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484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Implementation Summary</a:t>
            </a:r>
            <a:endParaRPr sz="4840">
              <a:solidFill>
                <a:srgbClr val="A4C2F4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116" name="Google Shape;116;g34ef193e99d_1_15"/>
          <p:cNvSpPr txBox="1"/>
          <p:nvPr>
            <p:ph idx="1" type="subTitle"/>
          </p:nvPr>
        </p:nvSpPr>
        <p:spPr>
          <a:xfrm>
            <a:off x="260875" y="1466075"/>
            <a:ext cx="10962900" cy="47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76225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4C2F4"/>
              </a:buClr>
              <a:buSzPts val="2550"/>
              <a:buFont typeface="Tomorrow"/>
              <a:buAutoNum type="arabicPeriod"/>
            </a:pPr>
            <a:r>
              <a:rPr b="1"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Order Creation </a:t>
            </a:r>
            <a:r>
              <a:rPr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– </a:t>
            </a:r>
            <a:r>
              <a:rPr lang="en-US" sz="2400">
                <a:latin typeface="Tomorrow"/>
                <a:ea typeface="Tomorrow"/>
                <a:cs typeface="Tomorrow"/>
                <a:sym typeface="Tomorrow"/>
              </a:rPr>
              <a:t>createOrder() takes item &amp; quantity, calculates price, stores data.</a:t>
            </a:r>
            <a:endParaRPr sz="2400">
              <a:latin typeface="Tomorrow"/>
              <a:ea typeface="Tomorrow"/>
              <a:cs typeface="Tomorrow"/>
              <a:sym typeface="Tomorrow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omorrow"/>
              <a:ea typeface="Tomorrow"/>
              <a:cs typeface="Tomorrow"/>
              <a:sym typeface="Tomorrow"/>
            </a:endParaRPr>
          </a:p>
          <a:p>
            <a:pPr indent="-276225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4C2F4"/>
              </a:buClr>
              <a:buSzPts val="2550"/>
              <a:buFont typeface="Tomorrow"/>
              <a:buAutoNum type="arabicPeriod"/>
            </a:pPr>
            <a:r>
              <a:rPr b="1"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OTP-secured Shipping </a:t>
            </a:r>
            <a:r>
              <a:rPr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– </a:t>
            </a:r>
            <a:r>
              <a:rPr lang="en-US" sz="2400">
                <a:latin typeface="Tomorrow"/>
                <a:ea typeface="Tomorrow"/>
                <a:cs typeface="Tomorrow"/>
                <a:sym typeface="Tomorrow"/>
              </a:rPr>
              <a:t>Admin uses ShipAndCreateOtp() to update status.</a:t>
            </a:r>
            <a:endParaRPr sz="2400">
              <a:latin typeface="Tomorrow"/>
              <a:ea typeface="Tomorrow"/>
              <a:cs typeface="Tomorrow"/>
              <a:sym typeface="Tomorrow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omorrow"/>
              <a:ea typeface="Tomorrow"/>
              <a:cs typeface="Tomorrow"/>
              <a:sym typeface="Tomorrow"/>
            </a:endParaRPr>
          </a:p>
          <a:p>
            <a:pPr indent="-276225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4C2F4"/>
              </a:buClr>
              <a:buSzPts val="2550"/>
              <a:buFont typeface="Tomorrow"/>
              <a:buAutoNum type="arabicPeriod"/>
            </a:pPr>
            <a:r>
              <a:rPr b="1"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Delivery Confirmation </a:t>
            </a:r>
            <a:r>
              <a:rPr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–</a:t>
            </a:r>
            <a:r>
              <a:rPr lang="en-US" sz="2400">
                <a:latin typeface="Tomorrow"/>
                <a:ea typeface="Tomorrow"/>
                <a:cs typeface="Tomorrow"/>
                <a:sym typeface="Tomorrow"/>
              </a:rPr>
              <a:t> Customer submits OTP via acceptOrder() to confirm.</a:t>
            </a:r>
            <a:endParaRPr sz="2400">
              <a:latin typeface="Tomorrow"/>
              <a:ea typeface="Tomorrow"/>
              <a:cs typeface="Tomorrow"/>
              <a:sym typeface="Tomorrow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omorrow"/>
              <a:ea typeface="Tomorrow"/>
              <a:cs typeface="Tomorrow"/>
              <a:sym typeface="Tomorrow"/>
            </a:endParaRPr>
          </a:p>
          <a:p>
            <a:pPr indent="-276225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4C2F4"/>
              </a:buClr>
              <a:buSzPts val="2550"/>
              <a:buFont typeface="Tomorrow"/>
              <a:buAutoNum type="arabicPeriod"/>
            </a:pPr>
            <a:r>
              <a:rPr b="1"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Refund Logic </a:t>
            </a:r>
            <a:r>
              <a:rPr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–</a:t>
            </a:r>
            <a:r>
              <a:rPr lang="en-US" sz="2400">
                <a:latin typeface="Tomorrow"/>
                <a:ea typeface="Tomorrow"/>
                <a:cs typeface="Tomorrow"/>
                <a:sym typeface="Tomorrow"/>
              </a:rPr>
              <a:t> Cancelled orders return 90% to buyer if not shipped.</a:t>
            </a:r>
            <a:endParaRPr sz="2400">
              <a:latin typeface="Tomorrow"/>
              <a:ea typeface="Tomorrow"/>
              <a:cs typeface="Tomorrow"/>
              <a:sym typeface="Tomorrow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omorrow"/>
              <a:ea typeface="Tomorrow"/>
              <a:cs typeface="Tomorrow"/>
              <a:sym typeface="Tomorrow"/>
            </a:endParaRPr>
          </a:p>
          <a:p>
            <a:pPr indent="-276225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4C2F4"/>
              </a:buClr>
              <a:buSzPts val="2550"/>
              <a:buFont typeface="Tomorrow"/>
              <a:buAutoNum type="arabicPeriod"/>
            </a:pPr>
            <a:r>
              <a:rPr b="1"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Mappings for State </a:t>
            </a:r>
            <a:r>
              <a:rPr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–</a:t>
            </a:r>
            <a:r>
              <a:rPr lang="en-US" sz="2400">
                <a:latin typeface="Tomorrow"/>
                <a:ea typeface="Tomorrow"/>
                <a:cs typeface="Tomorrow"/>
                <a:sym typeface="Tomorrow"/>
              </a:rPr>
              <a:t> Order tracking, cost, status, OTP, and quantities per </a:t>
            </a:r>
            <a:r>
              <a:rPr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order.</a:t>
            </a:r>
            <a:endParaRPr sz="2400">
              <a:solidFill>
                <a:srgbClr val="A4C2F4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A4C2F4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4ef193e99d_1_20"/>
          <p:cNvSpPr txBox="1"/>
          <p:nvPr>
            <p:ph type="ctrTitle"/>
          </p:nvPr>
        </p:nvSpPr>
        <p:spPr>
          <a:xfrm>
            <a:off x="180525" y="205600"/>
            <a:ext cx="8985300" cy="860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484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Results &amp; Discussions</a:t>
            </a:r>
            <a:endParaRPr sz="4840">
              <a:solidFill>
                <a:srgbClr val="A4C2F4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122" name="Google Shape;122;g34ef193e99d_1_20"/>
          <p:cNvSpPr txBox="1"/>
          <p:nvPr>
            <p:ph idx="1" type="subTitle"/>
          </p:nvPr>
        </p:nvSpPr>
        <p:spPr>
          <a:xfrm>
            <a:off x="260875" y="1389875"/>
            <a:ext cx="10962900" cy="47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12725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4C2F4"/>
              </a:buClr>
              <a:buSzPts val="2550"/>
              <a:buFont typeface="Tomorrow"/>
              <a:buAutoNum type="arabicPeriod"/>
            </a:pPr>
            <a:r>
              <a:rPr b="1"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Trustless Lifecycle</a:t>
            </a:r>
            <a:r>
              <a:rPr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 – </a:t>
            </a:r>
            <a:r>
              <a:rPr lang="en-US" sz="2400">
                <a:latin typeface="Tomorrow"/>
                <a:ea typeface="Tomorrow"/>
                <a:cs typeface="Tomorrow"/>
                <a:sym typeface="Tomorrow"/>
              </a:rPr>
              <a:t>All order stages are tracked immutably on-chain.</a:t>
            </a:r>
            <a:endParaRPr sz="2400">
              <a:latin typeface="Tomorrow"/>
              <a:ea typeface="Tomorrow"/>
              <a:cs typeface="Tomorrow"/>
              <a:sym typeface="Tomorrow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omorrow"/>
              <a:ea typeface="Tomorrow"/>
              <a:cs typeface="Tomorrow"/>
              <a:sym typeface="Tomorrow"/>
            </a:endParaRPr>
          </a:p>
          <a:p>
            <a:pPr indent="-212725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4C2F4"/>
              </a:buClr>
              <a:buSzPts val="2550"/>
              <a:buFont typeface="Tomorrow"/>
              <a:buAutoNum type="arabicPeriod"/>
            </a:pPr>
            <a:r>
              <a:rPr b="1"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OTP Security</a:t>
            </a:r>
            <a:r>
              <a:rPr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 – </a:t>
            </a:r>
            <a:r>
              <a:rPr lang="en-US" sz="2400">
                <a:latin typeface="Tomorrow"/>
                <a:ea typeface="Tomorrow"/>
                <a:cs typeface="Tomorrow"/>
                <a:sym typeface="Tomorrow"/>
              </a:rPr>
              <a:t>Ensures rightful recipient confirms delivery.</a:t>
            </a:r>
            <a:endParaRPr sz="2400">
              <a:latin typeface="Tomorrow"/>
              <a:ea typeface="Tomorrow"/>
              <a:cs typeface="Tomorrow"/>
              <a:sym typeface="Tomorrow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omorrow"/>
              <a:ea typeface="Tomorrow"/>
              <a:cs typeface="Tomorrow"/>
              <a:sym typeface="Tomorrow"/>
            </a:endParaRPr>
          </a:p>
          <a:p>
            <a:pPr indent="-212725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4C2F4"/>
              </a:buClr>
              <a:buSzPts val="2550"/>
              <a:buFont typeface="Tomorrow"/>
              <a:buAutoNum type="arabicPeriod"/>
            </a:pPr>
            <a:r>
              <a:rPr b="1"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Built-in Refunds</a:t>
            </a:r>
            <a:r>
              <a:rPr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 – </a:t>
            </a:r>
            <a:r>
              <a:rPr lang="en-US" sz="2400">
                <a:latin typeface="Tomorrow"/>
                <a:ea typeface="Tomorrow"/>
                <a:cs typeface="Tomorrow"/>
                <a:sym typeface="Tomorrow"/>
              </a:rPr>
              <a:t>Fully automated and fair cancellation logic.</a:t>
            </a:r>
            <a:endParaRPr sz="2400">
              <a:latin typeface="Tomorrow"/>
              <a:ea typeface="Tomorrow"/>
              <a:cs typeface="Tomorrow"/>
              <a:sym typeface="Tomorrow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omorrow"/>
              <a:ea typeface="Tomorrow"/>
              <a:cs typeface="Tomorrow"/>
              <a:sym typeface="Tomorrow"/>
            </a:endParaRPr>
          </a:p>
          <a:p>
            <a:pPr indent="-212725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4C2F4"/>
              </a:buClr>
              <a:buSzPts val="2550"/>
              <a:buFont typeface="Tomorrow"/>
              <a:buAutoNum type="arabicPeriod"/>
            </a:pPr>
            <a:r>
              <a:rPr b="1"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Self-Service</a:t>
            </a:r>
            <a:r>
              <a:rPr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 –</a:t>
            </a:r>
            <a:r>
              <a:rPr lang="en-US" sz="2400">
                <a:latin typeface="Tomorrow"/>
                <a:ea typeface="Tomorrow"/>
                <a:cs typeface="Tomorrow"/>
                <a:sym typeface="Tomorrow"/>
              </a:rPr>
              <a:t> No central authority needed to manage orders.</a:t>
            </a:r>
            <a:endParaRPr sz="2400">
              <a:latin typeface="Tomorrow"/>
              <a:ea typeface="Tomorrow"/>
              <a:cs typeface="Tomorrow"/>
              <a:sym typeface="Tomorrow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omorrow"/>
              <a:ea typeface="Tomorrow"/>
              <a:cs typeface="Tomorrow"/>
              <a:sym typeface="Tomorrow"/>
            </a:endParaRPr>
          </a:p>
          <a:p>
            <a:pPr indent="-212725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4C2F4"/>
              </a:buClr>
              <a:buSzPts val="2550"/>
              <a:buFont typeface="Tomorrow"/>
              <a:buAutoNum type="arabicPeriod"/>
            </a:pPr>
            <a:r>
              <a:rPr b="1"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Limitations</a:t>
            </a:r>
            <a:r>
              <a:rPr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 –</a:t>
            </a:r>
            <a:r>
              <a:rPr lang="en-US" sz="2400">
                <a:latin typeface="Tomorrow"/>
                <a:ea typeface="Tomorrow"/>
                <a:cs typeface="Tomorrow"/>
                <a:sym typeface="Tomorrow"/>
              </a:rPr>
              <a:t> Lacks brute-force OTP protection, mobile UX, and gas optimizations.</a:t>
            </a:r>
            <a:endParaRPr sz="2400">
              <a:latin typeface="Tomorrow"/>
              <a:ea typeface="Tomorrow"/>
              <a:cs typeface="Tomorrow"/>
              <a:sym typeface="Tomorrow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A4C2F4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4ef193e99d_1_25"/>
          <p:cNvSpPr txBox="1"/>
          <p:nvPr>
            <p:ph type="ctrTitle"/>
          </p:nvPr>
        </p:nvSpPr>
        <p:spPr>
          <a:xfrm>
            <a:off x="180525" y="205600"/>
            <a:ext cx="8985300" cy="860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484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Conclusion &amp; Future Scope</a:t>
            </a:r>
            <a:endParaRPr sz="4840">
              <a:solidFill>
                <a:srgbClr val="A4C2F4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128" name="Google Shape;128;g34ef193e99d_1_25"/>
          <p:cNvSpPr txBox="1"/>
          <p:nvPr>
            <p:ph idx="1" type="subTitle"/>
          </p:nvPr>
        </p:nvSpPr>
        <p:spPr>
          <a:xfrm>
            <a:off x="260875" y="1389875"/>
            <a:ext cx="10962900" cy="50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3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C2F4"/>
              </a:buClr>
              <a:buSzPts val="2400"/>
              <a:buFont typeface="Tomorrow"/>
              <a:buAutoNum type="arabicPeriod"/>
            </a:pPr>
            <a:r>
              <a:rPr b="1"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Secure &amp; Transparent</a:t>
            </a:r>
            <a:r>
              <a:rPr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 – </a:t>
            </a:r>
            <a:r>
              <a:rPr lang="en-US" sz="2400">
                <a:latin typeface="Tomorrow"/>
                <a:ea typeface="Tomorrow"/>
                <a:cs typeface="Tomorrow"/>
                <a:sym typeface="Tomorrow"/>
              </a:rPr>
              <a:t>Each action verifiable on the blockchain.</a:t>
            </a:r>
            <a:endParaRPr sz="2400">
              <a:latin typeface="Tomorrow"/>
              <a:ea typeface="Tomorrow"/>
              <a:cs typeface="Tomorrow"/>
              <a:sym typeface="Tomorrow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omorrow"/>
              <a:ea typeface="Tomorrow"/>
              <a:cs typeface="Tomorrow"/>
              <a:sym typeface="Tomorrow"/>
            </a:endParaRPr>
          </a:p>
          <a:p>
            <a:pPr indent="-203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4C2F4"/>
              </a:buClr>
              <a:buSzPts val="2400"/>
              <a:buFont typeface="Tomorrow"/>
              <a:buAutoNum type="arabicPeriod"/>
            </a:pPr>
            <a:r>
              <a:rPr b="1"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No Middlemen Needed</a:t>
            </a:r>
            <a:r>
              <a:rPr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 –</a:t>
            </a:r>
            <a:r>
              <a:rPr lang="en-US" sz="2400">
                <a:latin typeface="Tomorrow"/>
                <a:ea typeface="Tomorrow"/>
                <a:cs typeface="Tomorrow"/>
                <a:sym typeface="Tomorrow"/>
              </a:rPr>
              <a:t> Peer-to-peer fulfillment model.</a:t>
            </a:r>
            <a:endParaRPr sz="2400">
              <a:latin typeface="Tomorrow"/>
              <a:ea typeface="Tomorrow"/>
              <a:cs typeface="Tomorrow"/>
              <a:sym typeface="Tomorrow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omorrow"/>
              <a:ea typeface="Tomorrow"/>
              <a:cs typeface="Tomorrow"/>
              <a:sym typeface="Tomorrow"/>
            </a:endParaRPr>
          </a:p>
          <a:p>
            <a:pPr indent="-203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4C2F4"/>
              </a:buClr>
              <a:buSzPts val="2400"/>
              <a:buFont typeface="Tomorrow"/>
              <a:buAutoNum type="arabicPeriod"/>
            </a:pPr>
            <a:r>
              <a:rPr b="1"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Customer Empowerment</a:t>
            </a:r>
            <a:r>
              <a:rPr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 – </a:t>
            </a:r>
            <a:r>
              <a:rPr lang="en-US" sz="2400">
                <a:latin typeface="Tomorrow"/>
                <a:ea typeface="Tomorrow"/>
                <a:cs typeface="Tomorrow"/>
                <a:sym typeface="Tomorrow"/>
              </a:rPr>
              <a:t>Track, confirm, or cancel orders independently.</a:t>
            </a:r>
            <a:endParaRPr sz="2400">
              <a:latin typeface="Tomorrow"/>
              <a:ea typeface="Tomorrow"/>
              <a:cs typeface="Tomorrow"/>
              <a:sym typeface="Tomorrow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omorrow"/>
              <a:ea typeface="Tomorrow"/>
              <a:cs typeface="Tomorrow"/>
              <a:sym typeface="Tomorrow"/>
            </a:endParaRPr>
          </a:p>
          <a:p>
            <a:pPr indent="-203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4C2F4"/>
              </a:buClr>
              <a:buSzPts val="2400"/>
              <a:buFont typeface="Tomorrow"/>
              <a:buAutoNum type="arabicPeriod"/>
            </a:pPr>
            <a:r>
              <a:rPr b="1"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Scalable Design</a:t>
            </a:r>
            <a:r>
              <a:rPr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 – </a:t>
            </a:r>
            <a:r>
              <a:rPr lang="en-US" sz="2400">
                <a:latin typeface="Tomorrow"/>
                <a:ea typeface="Tomorrow"/>
                <a:cs typeface="Tomorrow"/>
                <a:sym typeface="Tomorrow"/>
              </a:rPr>
              <a:t>Ideal for e-commerce, warehousing, and global logistics.</a:t>
            </a:r>
            <a:endParaRPr sz="2400">
              <a:latin typeface="Tomorrow"/>
              <a:ea typeface="Tomorrow"/>
              <a:cs typeface="Tomorrow"/>
              <a:sym typeface="Tomorrow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omorrow"/>
              <a:ea typeface="Tomorrow"/>
              <a:cs typeface="Tomorrow"/>
              <a:sym typeface="Tomorrow"/>
            </a:endParaRPr>
          </a:p>
          <a:p>
            <a:pPr indent="-203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4C2F4"/>
              </a:buClr>
              <a:buSzPts val="2400"/>
              <a:buFont typeface="Tomorrow"/>
              <a:buAutoNum type="arabicPeriod"/>
            </a:pPr>
            <a:r>
              <a:rPr b="1"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Future Improvements</a:t>
            </a:r>
            <a:r>
              <a:rPr lang="en-US" sz="2400">
                <a:solidFill>
                  <a:srgbClr val="A4C2F4"/>
                </a:solidFill>
                <a:latin typeface="Tomorrow"/>
                <a:ea typeface="Tomorrow"/>
                <a:cs typeface="Tomorrow"/>
                <a:sym typeface="Tomorrow"/>
              </a:rPr>
              <a:t> –</a:t>
            </a:r>
            <a:r>
              <a:rPr lang="en-US" sz="2400">
                <a:latin typeface="Tomorrow"/>
                <a:ea typeface="Tomorrow"/>
                <a:cs typeface="Tomorrow"/>
                <a:sym typeface="Tomorrow"/>
              </a:rPr>
              <a:t> Add oracles, ZK proofs, L2 support, and mobile access.</a:t>
            </a:r>
            <a:endParaRPr b="1" sz="2400">
              <a:solidFill>
                <a:srgbClr val="A4C2F4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2025-04-16T16:34:07Z</dcterms:created>
  <dc:creator>vpamogha@outlook.com</dc:creator>
</cp:coreProperties>
</file>